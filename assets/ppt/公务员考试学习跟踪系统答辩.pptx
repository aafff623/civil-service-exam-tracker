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封面页，介绍项目与答辩人信息。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目录页，向老师展示今天汇报的五大部分。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说明项目为谁做、解决什么问题、用什么技术实现。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用核心数据总览 Week 1 成果，建立工作量印象。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介绍数据库表结构，强调外键预留支撑后续联动。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讲解用户认证机制和资源库的构建。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用时间线回顾 Week 1，并引出 Week 2。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展示 Week 2 核心产出：题库规模与题型分布。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讲解计划生成算法，突出个性化逻辑。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说明进度统计如何帮助用户了解自己的学习情况。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讲解弱项识别规则与推荐逻辑。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说明解析与答疑模块，点出 AI 为规则回复的取舍。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用时间线总结 Week 2，过渡到 Week 3。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展示 Week 3 在视觉与交互上的改进。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强调测试覆盖与演示数据准备。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说明文档体系如何支撑答辩与后续维护。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用数据和完成度图表总结项目最终成果。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致谢页，提供仓库与演示信息。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0287000" y="238125"/>
            <a:ext cx="1524000" cy="476250"/>
          </a:xfrm>
          <a:prstGeom prst="rect">
            <a:avLst/>
          </a:pr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617803" y="4067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00217" y="2785110"/>
            <a:ext cx="719156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公务员考试学习跟踪系统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42510" y="3678555"/>
            <a:ext cx="25069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课程设计答辩汇报</a:t>
            </a:r>
          </a:p>
        </p:txBody>
      </p:sp>
      <p:sp>
        <p:nvSpPr>
          <p:cNvPr id="9" name="Line 9"/>
          <p:cNvSpPr/>
          <p:nvPr/>
        </p:nvSpPr>
        <p:spPr>
          <a:xfrm>
            <a:off x="4000500" y="42862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6048375" y="4238625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745546" y="4758690"/>
            <a:ext cx="2700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答辩人：[答辩人姓名]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70621" y="5172075"/>
            <a:ext cx="22507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指导老师：[指导老师]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62707" y="5569268"/>
            <a:ext cx="12665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[学校 / 学院]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718453" y="6535102"/>
            <a:ext cx="7550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2026年6月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940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 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847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095375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095375"/>
            <a:ext cx="57150" cy="857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08710" y="1232535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9265" y="13296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项目背景与目标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16773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受众、痛点、技术栈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1095375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286500" y="1095375"/>
            <a:ext cx="57150" cy="857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33210" y="123253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3765" y="13296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Week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167735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基础设施 + 核心数据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190750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62000" y="2190750"/>
            <a:ext cx="57150" cy="857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8710" y="2327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39265" y="2425065"/>
            <a:ext cx="94283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Week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27727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核心业务逻辑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190750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286500" y="2190750"/>
            <a:ext cx="57150" cy="857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33210" y="2327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63765" y="2425065"/>
            <a:ext cx="94283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Week 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2772728"/>
            <a:ext cx="14451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完善、Review、演示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286125"/>
            <a:ext cx="5143500" cy="857250"/>
          </a:xfrm>
          <a:prstGeom prst="rect">
            <a:avLst/>
          </a:prstGeom>
          <a:noFill/>
          <a:ln w="9525">
            <a:solidFill>
              <a:srgbClr val="D0D7E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3286125"/>
            <a:ext cx="57150" cy="8572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08710" y="34232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39265" y="35204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最终成果与展望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9665" y="38681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数据与后续计划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3286125"/>
            <a:ext cx="5143500" cy="857250"/>
          </a:xfrm>
          <a:prstGeom prst="rect">
            <a:avLst/>
          </a:prstGeom>
          <a:noFill/>
          <a:ln w="9525">
            <a:solidFill>
              <a:srgbClr val="D0D7E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86500" y="3286125"/>
            <a:ext cx="57150" cy="857250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33210" y="34232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263765" y="3520440"/>
            <a:ext cx="5977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165" y="3868102"/>
            <a:ext cx="3103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Q&amp;A</a:t>
            </a:r>
          </a:p>
        </p:txBody>
      </p:sp>
      <p:sp>
        <p:nvSpPr>
          <p:cNvPr id="37" name="Line 3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131772" y="653510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02 / 18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75847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项目背景与目标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3719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面向在校大学生的轻量级公务员考试学习跟踪系统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44855" y="1378268"/>
            <a:ext cx="5633847" cy="1569720"/>
            <a:chOff x="744855" y="1378268"/>
            <a:chExt cx="5633847" cy="1569720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378268"/>
              <a:ext cx="4401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1. 目标用户：大一、大二备考公务员的在校大学生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1702118"/>
              <a:ext cx="52395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2. 核心痛点：备考资料分散、学习进度难跟踪、弱项难定位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2025968"/>
              <a:ext cx="56338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3. 项目目标：提供一站式资源管理、计划生成、进度统计与推荐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2349818"/>
              <a:ext cx="51212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4. 技术栈：Flask 3.0 + MySQL 8.0 + 原生 HTML/CSS/JS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855" y="2673668"/>
              <a:ext cx="5200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5. 架构：前后端分离，RESTful API，Session/Cookie 认证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31772" y="6506528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03 / 18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2110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Week 1 概览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3719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搭建骨架，完成数据库、用户认证与资源管理模块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62000" y="1428750"/>
            <a:ext cx="10668000" cy="1524000"/>
            <a:chOff x="762000" y="1428750"/>
            <a:chExt cx="10668000" cy="1524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2495550" cy="152400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428750"/>
              <a:ext cx="57150" cy="15240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98434" y="1754505"/>
              <a:ext cx="42268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98295" y="24260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代码提交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86150" y="1428750"/>
              <a:ext cx="2495550" cy="152400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486150" y="1428750"/>
              <a:ext cx="57150" cy="15240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84567" y="1754505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32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22445" y="24260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新增文件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10300" y="1428750"/>
              <a:ext cx="2495550" cy="152400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10300" y="1428750"/>
              <a:ext cx="57150" cy="15240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77726" y="1754505"/>
              <a:ext cx="56069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6595" y="24260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数据库表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934450" y="1428750"/>
              <a:ext cx="2495550" cy="152400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934450" y="1428750"/>
              <a:ext cx="57150" cy="15240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32867" y="1754505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23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70745" y="24260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种子资源</a:t>
              </a:r>
            </a:p>
          </p:txBody>
        </p:sp>
      </p:grpSp>
      <p:sp>
        <p:nvSpPr>
          <p:cNvPr id="27" name="Line 2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87402" y="65227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31772" y="6506528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04 / 18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11439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数据库设计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26270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12 张核心表覆盖完整学习闭环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39140" y="1234440"/>
            <a:ext cx="9304020" cy="1999298"/>
            <a:chOff x="739140" y="1234440"/>
            <a:chExt cx="9304020" cy="1999298"/>
          </a:xfrm>
        </p:grpSpPr>
        <p:sp>
          <p:nvSpPr>
            <p:cNvPr id="10" name="TextBox 10"/>
            <p:cNvSpPr txBox="1"/>
            <p:nvPr/>
          </p:nvSpPr>
          <p:spPr>
            <a:xfrm>
              <a:off x="739140" y="1234440"/>
              <a:ext cx="8738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核心表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54140" y="12344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关联设计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1664018"/>
              <a:ext cx="26763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users / goals — 用户与目标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1987868"/>
              <a:ext cx="21932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resources — 备考资源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855" y="2311718"/>
              <a:ext cx="17496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questions — 题目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4855" y="2635568"/>
              <a:ext cx="20158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answers — 答题记录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4855" y="2959418"/>
              <a:ext cx="29622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plans / plan_items — 学习计划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59855" y="1664018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questions.resource_id → resources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59855" y="1987868"/>
              <a:ext cx="29918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answers 记录 user + question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59855" y="23117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progress 汇总答题历史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59855" y="2635568"/>
              <a:ext cx="26270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weak_points 存储弱项科目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59855" y="2959418"/>
              <a:ext cx="31002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recommendations 关联资源与题</a:t>
              </a:r>
            </a:p>
          </p:txBody>
        </p:sp>
      </p:grpSp>
      <p:sp>
        <p:nvSpPr>
          <p:cNvPr id="23" name="Line 23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87402" y="65227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31772" y="6506528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05 / 18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75847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用户与资源模块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0805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Session 认证 + 23 条备考资源入库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39140" y="1234440"/>
            <a:ext cx="7894272" cy="1675448"/>
            <a:chOff x="739140" y="1234440"/>
            <a:chExt cx="7894272" cy="1675448"/>
          </a:xfrm>
        </p:grpSpPr>
        <p:sp>
          <p:nvSpPr>
            <p:cNvPr id="10" name="TextBox 10"/>
            <p:cNvSpPr txBox="1"/>
            <p:nvPr/>
          </p:nvSpPr>
          <p:spPr>
            <a:xfrm>
              <a:off x="739140" y="12344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用户模块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54140" y="12344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资源模块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1664018"/>
              <a:ext cx="2173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注册 / 登录 / 登出 API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1987868"/>
              <a:ext cx="17003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scrypt 密码哈希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855" y="2311718"/>
              <a:ext cx="22721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Session/Cookie 登录态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4855" y="2635568"/>
              <a:ext cx="1187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个人信息页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59855" y="1664018"/>
              <a:ext cx="20256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23 条资源，5 大类型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59855" y="1987868"/>
              <a:ext cx="19468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资源列表 / 详情 API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59855" y="2311718"/>
              <a:ext cx="13848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科目分类筛选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59855" y="2635568"/>
              <a:ext cx="2173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资源详情页可跳转练习</a:t>
              </a:r>
            </a:p>
          </p:txBody>
        </p:sp>
      </p:grpSp>
      <p:sp>
        <p:nvSpPr>
          <p:cNvPr id="21" name="Line 2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87402" y="65227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31772" y="6506528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06 / 18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2110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 Week 1 小结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0170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从 0 到 1：项目初始化 → 数据库 → 用户 → 资源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35255" y="1156335"/>
            <a:ext cx="11614785" cy="801053"/>
            <a:chOff x="135255" y="1156335"/>
            <a:chExt cx="11614785" cy="801053"/>
          </a:xfrm>
        </p:grpSpPr>
        <p:sp>
          <p:nvSpPr>
            <p:cNvPr id="10" name="Line 10"/>
            <p:cNvSpPr/>
            <p:nvPr/>
          </p:nvSpPr>
          <p:spPr>
            <a:xfrm>
              <a:off x="762000" y="1524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38100">
              <a:solidFill>
                <a:srgbClr val="D0D7E0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66750" y="1428750"/>
              <a:ext cx="190500" cy="1905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38521" y="1156335"/>
              <a:ext cx="646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Day 1-2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5255" y="1744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项目初始化与骨架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333750" y="1428750"/>
              <a:ext cx="190500" cy="1905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83731" y="1156335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Day 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20782" y="1744028"/>
              <a:ext cx="816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12 张表设计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000750" y="1428750"/>
              <a:ext cx="190500" cy="1905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50731" y="1156335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Day 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75960" y="17440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用户认证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667750" y="1428750"/>
              <a:ext cx="190500" cy="1905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17731" y="1156335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Day 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42960" y="17440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资源管理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334750" y="1428750"/>
              <a:ext cx="190500" cy="1905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115723" y="1156335"/>
              <a:ext cx="6285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Week 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09960" y="17440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业务模块</a:t>
              </a:r>
            </a:p>
          </p:txBody>
        </p:sp>
      </p:grpSp>
      <p:sp>
        <p:nvSpPr>
          <p:cNvPr id="27" name="Line 2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87402" y="65227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31772" y="6506528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07 / 18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30594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 Week 2 概览 + 题库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8593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实现 6 大核心业务模块，题库扩充至 200 题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06317" y="1378268"/>
            <a:ext cx="7124403" cy="2903573"/>
            <a:chOff x="1306317" y="1378268"/>
            <a:chExt cx="7124403" cy="2903573"/>
          </a:xfrm>
        </p:grpSpPr>
        <p:sp>
          <p:nvSpPr>
            <p:cNvPr id="10" name="Freeform 10"/>
            <p:cNvSpPr/>
            <p:nvPr/>
          </p:nvSpPr>
          <p:spPr>
            <a:xfrm>
              <a:off x="1306317" y="1905000"/>
              <a:ext cx="2405511" cy="2376841"/>
            </a:xfrm>
            <a:custGeom>
              <a:avLst/>
              <a:gdLst/>
              <a:ahLst/>
              <a:cxnLst/>
              <a:rect l="l" t="t" r="r" b="b"/>
              <a:pathLst>
                <a:path w="2405511" h="2376841">
                  <a:moveTo>
                    <a:pt x="1170183" y="1143000"/>
                  </a:moveTo>
                  <a:lnTo>
                    <a:pt x="1170183" y="0"/>
                  </a:lnTo>
                  <a:cubicBezTo>
                    <a:pt x="1639027" y="0"/>
                    <a:pt x="2060325" y="286314"/>
                    <a:pt x="2232918" y="722234"/>
                  </a:cubicBezTo>
                  <a:cubicBezTo>
                    <a:pt x="2405511" y="1158153"/>
                    <a:pt x="2294393" y="1655266"/>
                    <a:pt x="1952621" y="1976211"/>
                  </a:cubicBezTo>
                  <a:cubicBezTo>
                    <a:pt x="1610849" y="2297157"/>
                    <a:pt x="1107740" y="2376841"/>
                    <a:pt x="683518" y="2177217"/>
                  </a:cubicBezTo>
                  <a:cubicBezTo>
                    <a:pt x="259295" y="1977593"/>
                    <a:pt x="0" y="1539149"/>
                    <a:pt x="29439" y="1071230"/>
                  </a:cubicBezTo>
                  <a:close/>
                </a:path>
              </a:pathLst>
            </a:custGeom>
            <a:solidFill>
              <a:srgbClr val="0066CC"/>
            </a:solidFill>
            <a:ln w="19050">
              <a:solidFill>
                <a:srgbClr val="FFFFFF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35755" y="2013783"/>
              <a:ext cx="1140745" cy="1034217"/>
            </a:xfrm>
            <a:custGeom>
              <a:avLst/>
              <a:gdLst/>
              <a:ahLst/>
              <a:cxnLst/>
              <a:rect l="l" t="t" r="r" b="b"/>
              <a:pathLst>
                <a:path w="1140745" h="1034217">
                  <a:moveTo>
                    <a:pt x="1140745" y="1034217"/>
                  </a:moveTo>
                  <a:lnTo>
                    <a:pt x="0" y="962448"/>
                  </a:lnTo>
                  <a:cubicBezTo>
                    <a:pt x="26179" y="546351"/>
                    <a:pt x="276839" y="177516"/>
                    <a:pt x="654079" y="0"/>
                  </a:cubicBezTo>
                  <a:close/>
                </a:path>
              </a:pathLst>
            </a:custGeom>
            <a:solidFill>
              <a:srgbClr val="10B981"/>
            </a:solidFill>
            <a:ln w="19050">
              <a:solidFill>
                <a:srgbClr val="FFFFF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989834" y="1905000"/>
              <a:ext cx="486666" cy="1143000"/>
            </a:xfrm>
            <a:custGeom>
              <a:avLst/>
              <a:gdLst/>
              <a:ahLst/>
              <a:cxnLst/>
              <a:rect l="l" t="t" r="r" b="b"/>
              <a:pathLst>
                <a:path w="486666" h="1143000">
                  <a:moveTo>
                    <a:pt x="486666" y="1143000"/>
                  </a:moveTo>
                  <a:lnTo>
                    <a:pt x="0" y="108783"/>
                  </a:lnTo>
                  <a:cubicBezTo>
                    <a:pt x="152238" y="37145"/>
                    <a:pt x="318415" y="0"/>
                    <a:pt x="486666" y="0"/>
                  </a:cubicBezTo>
                  <a:close/>
                </a:path>
              </a:pathLst>
            </a:custGeom>
            <a:solidFill>
              <a:srgbClr val="F59E0B"/>
            </a:solidFill>
            <a:ln w="19050">
              <a:solidFill>
                <a:srgbClr val="FFFFF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847850" y="2419350"/>
              <a:ext cx="1257300" cy="1257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2647950"/>
              <a:ext cx="152400" cy="1524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13910" y="2632710"/>
              <a:ext cx="10294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单选题 152道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81500" y="2914650"/>
              <a:ext cx="152400" cy="1524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13910" y="2899410"/>
              <a:ext cx="9768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判断题 34道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81500" y="3181350"/>
              <a:ext cx="152400" cy="1524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13910" y="3166110"/>
              <a:ext cx="9330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多选题 14道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64355" y="1378268"/>
              <a:ext cx="40663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1. 覆盖 7 个考试科目（行测五大模块 + 申论）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64355" y="1702118"/>
              <a:ext cx="31298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2. 支持科目 / 资料来源 / 题型筛选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64355" y="2025968"/>
              <a:ext cx="3465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3. 多选答案规范化比对，确保判题一致</a:t>
              </a:r>
            </a:p>
          </p:txBody>
        </p:sp>
      </p:grpSp>
      <p:sp>
        <p:nvSpPr>
          <p:cNvPr id="24" name="Line 24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70972" y="6522720"/>
            <a:ext cx="450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31772" y="6506528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08 / 18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43643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09 智能学习计划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8396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按科目权重 × 难度 + 弱项加权生成每日任务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44855" y="1524000"/>
            <a:ext cx="10666095" cy="2014538"/>
            <a:chOff x="744855" y="1524000"/>
            <a:chExt cx="10666095" cy="2014538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2447925" cy="857250"/>
            </a:xfrm>
            <a:prstGeom prst="rect">
              <a:avLst/>
            </a:prstGeom>
            <a:solidFill>
              <a:srgbClr val="E8F4FC"/>
            </a:solidFill>
            <a:ln w="19050">
              <a:solidFill>
                <a:srgbClr val="00336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08328" y="1727835"/>
              <a:ext cx="5457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31131" y="202977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输入目标与时长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3257550" y="18573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95675" y="1524000"/>
              <a:ext cx="2447925" cy="857250"/>
            </a:xfrm>
            <a:prstGeom prst="rect">
              <a:avLst/>
            </a:prstGeom>
            <a:solidFill>
              <a:srgbClr val="E8F4FC"/>
            </a:solidFill>
            <a:ln w="19050">
              <a:solidFill>
                <a:srgbClr val="0066C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19000" y="1727835"/>
              <a:ext cx="5917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64806" y="202977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计算科目优先级</a:t>
              </a:r>
            </a:p>
          </p:txBody>
        </p:sp>
        <p:sp>
          <p:nvSpPr>
            <p:cNvPr id="17" name="Polygon 17"/>
            <p:cNvSpPr/>
            <p:nvPr/>
          </p:nvSpPr>
          <p:spPr>
            <a:xfrm>
              <a:off x="5991225" y="18573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29350" y="1524000"/>
              <a:ext cx="2447925" cy="857250"/>
            </a:xfrm>
            <a:prstGeom prst="rect">
              <a:avLst/>
            </a:prstGeom>
            <a:solidFill>
              <a:srgbClr val="E8F4FC"/>
            </a:solidFill>
            <a:ln w="19050">
              <a:solidFill>
                <a:srgbClr val="0066C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2675" y="1727835"/>
              <a:ext cx="5917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78991" y="2029778"/>
              <a:ext cx="939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弱项加权 50%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8724900" y="185737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963025" y="1524000"/>
              <a:ext cx="2447925" cy="857250"/>
            </a:xfrm>
            <a:prstGeom prst="rect">
              <a:avLst/>
            </a:prstGeom>
            <a:solidFill>
              <a:srgbClr val="E8F4FC"/>
            </a:solidFill>
            <a:ln w="19050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86350" y="1727835"/>
              <a:ext cx="5917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Step 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08832" y="20297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分配每日任务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4855" y="2616518"/>
              <a:ext cx="42339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1. 三阶段划分：基础 30% / 强化 40% / 冲刺 30%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4855" y="2940368"/>
              <a:ext cx="50127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2. 每日任务数：max(2, min(5, daily_minutes // 30))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4855" y="3264218"/>
              <a:ext cx="40565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3. 学习计划页展示每日任务卡片，可勾选完成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870972" y="6522720"/>
            <a:ext cx="450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131772" y="6506528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09 / 18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3559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 学习进度统计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0509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答题历史 → 统计指标 → 可视化反馈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44855" y="1378268"/>
            <a:ext cx="4648010" cy="1245870"/>
            <a:chOff x="744855" y="1378268"/>
            <a:chExt cx="4648010" cy="1245870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378268"/>
              <a:ext cx="4598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1. 答题记录：记录每道题的用户答案、正确性、用时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1702118"/>
              <a:ext cx="4648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2. 统计维度：完成率、正确率、科目分布、学习时长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2025968"/>
              <a:ext cx="45001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3. 可视化：进度条、正确率图表、Dashboard 概览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2349818"/>
              <a:ext cx="45001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4. Dashboard 接入今日任务与进度数据，形成闭环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70972" y="6522720"/>
            <a:ext cx="450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70110" y="650652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 / 18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5974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11 弱项识别与推荐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基于答题历史自动识别弱项并推荐资源与同类题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39140" y="1234440"/>
            <a:ext cx="8958977" cy="1675448"/>
            <a:chOff x="739140" y="1234440"/>
            <a:chExt cx="8958977" cy="1675448"/>
          </a:xfrm>
        </p:grpSpPr>
        <p:sp>
          <p:nvSpPr>
            <p:cNvPr id="10" name="TextBox 10"/>
            <p:cNvSpPr txBox="1"/>
            <p:nvPr/>
          </p:nvSpPr>
          <p:spPr>
            <a:xfrm>
              <a:off x="739140" y="12344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弱项规则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54140" y="12344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推荐策略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1664018"/>
              <a:ext cx="11285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答题量 ≥ 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1987868"/>
              <a:ext cx="13454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正确率 &lt; 60%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855" y="2311718"/>
              <a:ext cx="1187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按科目聚合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4855" y="2635568"/>
              <a:ext cx="9905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动态更新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59855" y="1664018"/>
              <a:ext cx="2173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推荐弱项科目相关资源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59855" y="1987868"/>
              <a:ext cx="1582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推荐同类练习题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59855" y="2311718"/>
              <a:ext cx="2173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推荐页按弱项动态生成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59855" y="2635568"/>
              <a:ext cx="3238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资源与题目通过 resource_id 关联</a:t>
              </a:r>
            </a:p>
          </p:txBody>
        </p:sp>
      </p:grpSp>
      <p:sp>
        <p:nvSpPr>
          <p:cNvPr id="21" name="Line 2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70972" y="6522720"/>
            <a:ext cx="450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08448" y="6506528"/>
            <a:ext cx="4253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11 / 18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03388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12 解析与答疑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218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每题解析 + 留言答疑，形成学习闭环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44855" y="1378268"/>
            <a:ext cx="4086082" cy="1245870"/>
            <a:chOff x="744855" y="1378268"/>
            <a:chExt cx="4086082" cy="1245870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378268"/>
              <a:ext cx="30213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1. 题目详情页展示解析与答题技巧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1702118"/>
              <a:ext cx="38790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2. 用户可提交疑问，comments 表存储留言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2025968"/>
              <a:ext cx="29227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3. Dashboard 支持快捷提交评论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2349818"/>
              <a:ext cx="40860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4. AI 答疑当前为规则回复，保证课程设计可控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70972" y="6522720"/>
            <a:ext cx="450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70110" y="650652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12 / 18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2110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13 Week 2 小结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9634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从数据到业务：题库、计划、统计、推荐、答疑全部落地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365284" y="1156335"/>
            <a:ext cx="11384756" cy="801053"/>
            <a:chOff x="365284" y="1156335"/>
            <a:chExt cx="11384756" cy="801053"/>
          </a:xfrm>
        </p:grpSpPr>
        <p:sp>
          <p:nvSpPr>
            <p:cNvPr id="10" name="Line 10"/>
            <p:cNvSpPr/>
            <p:nvPr/>
          </p:nvSpPr>
          <p:spPr>
            <a:xfrm>
              <a:off x="762000" y="1524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38100">
              <a:solidFill>
                <a:srgbClr val="D0D7E0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66750" y="1428750"/>
              <a:ext cx="190500" cy="1905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6731" y="1156335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Day 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5284" y="174402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题库与练习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333750" y="1428750"/>
              <a:ext cx="190500" cy="1905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83731" y="1156335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Day 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08960" y="17440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学习计划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000750" y="1428750"/>
              <a:ext cx="190500" cy="1905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50731" y="1156335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Day 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75960" y="17440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进度统计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667750" y="1428750"/>
              <a:ext cx="190500" cy="1905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17731" y="1156335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Day 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42960" y="17440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弱项推荐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11334750" y="1428750"/>
              <a:ext cx="190500" cy="1905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157128" y="1156335"/>
              <a:ext cx="5457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Day 10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09960" y="17440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解析答疑</a:t>
              </a:r>
            </a:p>
          </p:txBody>
        </p:sp>
      </p:grpSp>
      <p:sp>
        <p:nvSpPr>
          <p:cNvPr id="27" name="Line 27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70972" y="6522720"/>
            <a:ext cx="450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70110" y="650652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13 / 18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93560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14 UI/UX 统一与动画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2832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从功能到体验：Aceternity 风格迁移与交互动画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62000" y="1428750"/>
            <a:ext cx="10658475" cy="2095500"/>
            <a:chOff x="762000" y="1428750"/>
            <a:chExt cx="10658475" cy="2095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3400425" cy="209550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428750"/>
              <a:ext cx="57150" cy="2095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450" y="16478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设计系统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7260" y="201358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MASTER.md 设计 Token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7260" y="2280285"/>
              <a:ext cx="17392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surfaces.css 光效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7260" y="2546985"/>
              <a:ext cx="19846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颜色 / 字体 / 圆角统一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91025" y="1428750"/>
              <a:ext cx="3400425" cy="209550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91025" y="1428750"/>
              <a:ext cx="57150" cy="2095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62475" y="16478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动画体系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6285" y="201358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加载 veil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6285" y="228028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页面过渡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6285" y="2546985"/>
              <a:ext cx="9243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FLIP 动画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6285" y="2813685"/>
              <a:ext cx="19232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支持 reduced-motion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20050" y="1428750"/>
              <a:ext cx="3400425" cy="209550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20050" y="1428750"/>
              <a:ext cx="57150" cy="2095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91500" y="16478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页面打磨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95310" y="2013585"/>
              <a:ext cx="1800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Dashboard 今日任务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95310" y="2280285"/>
              <a:ext cx="12310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统计图表对齐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95310" y="2546985"/>
              <a:ext cx="19846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• 个人资料页 admin 区块</a:t>
              </a:r>
            </a:p>
          </p:txBody>
        </p:sp>
      </p:grpSp>
      <p:sp>
        <p:nvSpPr>
          <p:cNvPr id="30" name="Line 3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70972" y="6522720"/>
            <a:ext cx="450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170110" y="650652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14 / 18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67796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15 测试与演示数据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7311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PowerShell 冒烟测试 + 200 题 + 资源联动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44855" y="1378268"/>
            <a:ext cx="5712714" cy="1245870"/>
            <a:chOff x="744855" y="1378268"/>
            <a:chExt cx="5712714" cy="1245870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378268"/>
              <a:ext cx="46381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1. PowerShell 脚本覆盖 18+ API 端点，快速验证服务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1702118"/>
              <a:ext cx="41057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2. 题库从初始版本扩容至 200 题，含多选支持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2025968"/>
              <a:ext cx="5712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3. 题目与资源通过 resource_id 关联，实现「从资源开始练习」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2349818"/>
              <a:ext cx="54859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4. 修复本地时区过滤、模块加载时序、Dashboard 勾选等细节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70972" y="6522720"/>
            <a:ext cx="450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70110" y="650652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15 / 18</a:t>
            </a:r>
          </a:p>
        </p:txBody>
      </p: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3220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16 文档整理与项目归档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9634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补齐部署、使用、进度与协作文档，便于答辩与换机实测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44855" y="1378268"/>
            <a:ext cx="6195774" cy="1569720"/>
            <a:chOff x="744855" y="1378268"/>
            <a:chExt cx="6195774" cy="1569720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378268"/>
              <a:ext cx="48353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1. README.md：环境准备、开机运行、换机实测、FAQ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1702118"/>
              <a:ext cx="49831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2. docs/PROJECT_GUIDE.md：详细使用指南与故障排查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2025968"/>
              <a:ext cx="51803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3. docs/DEVELOPMENT_TIMELINE.md：三周实际进度梳理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2349818"/>
              <a:ext cx="61957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4. docs/PPT_PRODUCTION_PLAN.md + CHECKLIST.md：PPT 制作规划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855" y="2673668"/>
              <a:ext cx="40466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5. .cursorrules：Cursor 编辑器项目上下文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70972" y="6522720"/>
            <a:ext cx="450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Week 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70110" y="650652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16 / 18</a:t>
            </a:r>
          </a:p>
        </p:txBody>
      </p:sp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171184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17 最终成果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75252" y="2924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1310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7 个核心模块全部完成，系统可运行、可演示、可换机部署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746760" y="1428750"/>
            <a:ext cx="10683240" cy="5486400"/>
            <a:chOff x="746760" y="1428750"/>
            <a:chExt cx="10683240" cy="5486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2495550" cy="152400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428750"/>
              <a:ext cx="57150" cy="15240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12236" y="1754505"/>
              <a:ext cx="3950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98295" y="24260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核心模块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86150" y="1428750"/>
              <a:ext cx="2495550" cy="152400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486150" y="1428750"/>
              <a:ext cx="57150" cy="15240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53576" y="1754505"/>
              <a:ext cx="56069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10490" y="2426018"/>
              <a:ext cx="12468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API Blueprint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10300" y="1428750"/>
              <a:ext cx="2495550" cy="152400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10300" y="1428750"/>
              <a:ext cx="57150" cy="15240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56898" y="1754505"/>
              <a:ext cx="100235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200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6595" y="24260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种子题目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934450" y="1428750"/>
              <a:ext cx="2495550" cy="1524000"/>
            </a:xfrm>
            <a:prstGeom prst="rect">
              <a:avLst/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934450" y="1428750"/>
              <a:ext cx="57150" cy="15240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32867" y="1754505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23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70745" y="24260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备考资源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6760" y="32423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项目初始化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95500" y="3143250"/>
              <a:ext cx="5715000" cy="3429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90510" y="3242310"/>
              <a:ext cx="288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6760" y="38138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数据库设计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095500" y="3714750"/>
              <a:ext cx="5715000" cy="3429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90510" y="3813810"/>
              <a:ext cx="288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6760" y="43853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用户与资源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095500" y="4286250"/>
              <a:ext cx="5715000" cy="3429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90510" y="4385310"/>
              <a:ext cx="288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6760" y="49568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题库与练习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095500" y="4857750"/>
              <a:ext cx="5715000" cy="3429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90510" y="4956810"/>
              <a:ext cx="288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6760" y="55283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计划与统计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095500" y="5429250"/>
              <a:ext cx="5715000" cy="3429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90510" y="5528310"/>
              <a:ext cx="288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6760" y="60998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推荐与答疑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095500" y="6000750"/>
              <a:ext cx="5715000" cy="3429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90510" y="6099810"/>
              <a:ext cx="288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6760" y="6671310"/>
              <a:ext cx="12923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UI/Review/文档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095500" y="6572250"/>
              <a:ext cx="5715000" cy="3429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890510" y="6671310"/>
              <a:ext cx="2881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</p:grpSp>
      <p:sp>
        <p:nvSpPr>
          <p:cNvPr id="48" name="Line 48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69570" y="65227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数据来源：项目文档与源码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170110" y="650652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17 / 18</a:t>
            </a:r>
          </a:p>
        </p:txBody>
      </p:sp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584752" y="4067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54499" y="240411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90135" y="3282315"/>
            <a:ext cx="24117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欢迎老师提问与指导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175564" y="4521518"/>
            <a:ext cx="58408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项目仓库：github.com/Aafff623/civil-service-exam-tracker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92333" y="4871085"/>
            <a:ext cx="38073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演示地址：http://localhost:8080/login.html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57038" y="5156835"/>
            <a:ext cx="16779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账号：root / 123456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307610" y="6535102"/>
            <a:ext cx="3576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公务员考试学习跟踪系统 · 课程设计答辩 · 2026.06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70110" y="653510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18 / 18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